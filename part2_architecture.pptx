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191F"/>
                </a:solidFill>
                <a:latin typeface="Segoe UI"/>
              </a:rPr>
              <a:t>Part 2 —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F6B7A"/>
                </a:solidFill>
                <a:latin typeface="Segoe UI"/>
              </a:rPr>
              <a:t>Public source to private analytics; S3 is the handover point between the two flows</a:t>
            </a:r>
          </a:p>
        </p:txBody>
      </p:sp>
      <p:pic>
        <p:nvPicPr>
          <p:cNvPr id="4" name="Picture 3" descr="part2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67" y="1051560"/>
            <a:ext cx="991616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91F"/>
                </a:solidFill>
                <a:latin typeface="Segoe UI"/>
              </a:rPr>
              <a:t>Key Assumptions &amp;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600" b="0">
                <a:solidFill>
                  <a:srgbClr val="16191F"/>
                </a:solidFill>
                <a:latin typeface="Segoe UI"/>
              </a:rPr>
              <a:t>•  Fargate over Lambda: no 15-minute limit or 10 GB storage ceiling for large-file download and ETL.</a:t>
            </a:r>
          </a:p>
          <a:p>
            <a:pPr>
              <a:spcAft>
                <a:spcPts val="2000"/>
              </a:spcAft>
            </a:pPr>
            <a:r>
              <a:rPr sz="1600">
                <a:solidFill>
                  <a:srgbClr val="16191F"/>
                </a:solidFill>
                <a:latin typeface="Segoe UI"/>
              </a:rPr>
              <a:t>•  S3 is the system of record; raw is versioned and never deleted, so every dataset is rebuildable.</a:t>
            </a:r>
          </a:p>
          <a:p>
            <a:pPr>
              <a:spcAft>
                <a:spcPts val="2000"/>
              </a:spcAft>
            </a:pPr>
            <a:r>
              <a:rPr sz="1600">
                <a:solidFill>
                  <a:srgbClr val="16191F"/>
                </a:solidFill>
                <a:latin typeface="Segoe UI"/>
              </a:rPr>
              <a:t>•  Analytics stays private: Tableau reaches Athena over an interface endpoint, never the internet.</a:t>
            </a:r>
          </a:p>
          <a:p>
            <a:pPr>
              <a:spcAft>
                <a:spcPts val="2000"/>
              </a:spcAft>
            </a:pPr>
            <a:r>
              <a:rPr sz="1600">
                <a:solidFill>
                  <a:srgbClr val="16191F"/>
                </a:solidFill>
                <a:latin typeface="Segoe UI"/>
              </a:rPr>
              <a:t>•  Lake Formation is excluded — IAM plus the Glue Data Catalog is sufficient for this scope.</a:t>
            </a:r>
          </a:p>
          <a:p>
            <a:pPr>
              <a:spcAft>
                <a:spcPts val="2000"/>
              </a:spcAft>
            </a:pPr>
            <a:r>
              <a:rPr sz="1600">
                <a:solidFill>
                  <a:srgbClr val="16191F"/>
                </a:solidFill>
                <a:latin typeface="Segoe UI"/>
              </a:rPr>
              <a:t>•  The remaining-lease reference date is pinned to a named constant, so reruns stay reproducible.</a:t>
            </a:r>
          </a:p>
          <a:p>
            <a:pPr>
              <a:spcAft>
                <a:spcPts val="2000"/>
              </a:spcAft>
            </a:pPr>
            <a:r>
              <a:rPr sz="1600">
                <a:solidFill>
                  <a:srgbClr val="16191F"/>
                </a:solidFill>
                <a:latin typeface="Segoe UI"/>
              </a:rPr>
              <a:t>•  One Availability Zone is shown for clarity; the second AZ is symmetric.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